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room: we're not here to look at a new feature. We're here to look at a</a:t>
            </a:r>
          </a:p>
          <a:p>
            <a:r>
              <a:t>different shape for the whole product. The prototype on screen runs an agent</a:t>
            </a:r>
          </a:p>
          <a:p>
            <a:r>
              <a:t>harness I built on weekends — it's in daily use in my house. Everything I show is</a:t>
            </a:r>
          </a:p>
          <a:p>
            <a:r>
              <a:t>real. The goal today is to open up a different way of thinking about what the</a:t>
            </a:r>
          </a:p>
          <a:p>
            <a:r>
              <a:t>smart home platform could be in the AI age.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Hardware: Raspberry Pi 5 (8 GB) + AI HAT+ (Hailo-8L NPU, 13 TOPS) in a wooden box.</a:t>
            </a:r>
          </a:p>
          <a:p>
            <a:r>
              <a:t>  Camera (IMX708 NoIR), ReSpeaker 4-mic USB array, 7" 1024x600 LCD, speaker.</a:t>
            </a:r>
          </a:p>
          <a:p>
            <a:r>
              <a:t>• One long-lived Python process (src/boxbot/core/main.py). The conversation loop</a:t>
            </a:r>
          </a:p>
          <a:p>
            <a:r>
              <a:t>  runs on the Claude Agent SDK backend (agent.backend="claude_agent_sdk";</a:t>
            </a:r>
          </a:p>
          <a:p>
            <a:r>
              <a:t>  core/agent.py::_agent_loop_sdk, bridged by core/agent_sdk_adapter.py — boxBot</a:t>
            </a:r>
          </a:p>
          <a:p>
            <a:r>
              <a:t>  tools are wrapped into an in-process MCP server).</a:t>
            </a:r>
          </a:p>
          <a:p>
            <a:r>
              <a:t>• Two models (core/config.py): BOXBOT_MODEL_LARGE = conversation/reasoning;</a:t>
            </a:r>
          </a:p>
          <a:p>
            <a:r>
              <a:t>  BOXBOT_MODEL_SMALL = Haiku for high-frequency, low-stakes work (web-search</a:t>
            </a:r>
          </a:p>
          <a:p>
            <a:r>
              <a:t>  content firewall, memory rerank, photo tagging).</a:t>
            </a:r>
          </a:p>
          <a:p>
            <a:r>
              <a:t>• Everything is Pi-local. The only data leaving the box is explicit API calls</a:t>
            </a:r>
          </a:p>
          <a:p>
            <a:r>
              <a:t>  (Claude, ElevenLabs STT/TTS, WhatsApp, weather). No telemetry; the only open</a:t>
            </a:r>
          </a:p>
          <a:p>
            <a:r>
              <a:t>  inbound port is the WhatsApp webhook.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talk in one sentence. Today, almost everyone in the industry —</a:t>
            </a:r>
          </a:p>
          <a:p>
            <a:r>
              <a:t>us included — is bolting an assistant onto an existing app. A voice on top of the</a:t>
            </a:r>
          </a:p>
          <a:p>
            <a:r>
              <a:t>same menus. The bet here is the opposite: the assistant is the platform, and the</a:t>
            </a:r>
          </a:p>
          <a:p>
            <a:r>
              <a:t>app, the panel, the settings all become things the agent operates on the user's</a:t>
            </a:r>
          </a:p>
          <a:p>
            <a:r>
              <a:t>behalf. Hold that inversion in your head for the next ten minutes.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The inversion is literal in the codebase: there is no settings UI, no rules</a:t>
            </a:r>
          </a:p>
          <a:p>
            <a:r>
              <a:t>  engine, no React/Swift app. "App behavior" is just text files the agent reads</a:t>
            </a:r>
          </a:p>
          <a:p>
            <a:r>
              <a:t>  and edits:</a:t>
            </a:r>
          </a:p>
          <a:p>
            <a:r>
              <a:t>    – skills  → skills/&lt;name&gt;/SKILL.md  (instructions)</a:t>
            </a:r>
          </a:p>
          <a:p>
            <a:r>
              <a:t>    – displays → declarative JSON specs  (layout)</a:t>
            </a:r>
          </a:p>
          <a:p>
            <a:r>
              <a:t>    – standing behavior → data/memory/system.md  (always-loaded household facts)</a:t>
            </a:r>
          </a:p>
          <a:p>
            <a:r>
              <a:t>• The entire "frontend" the agent is given = 10 always-loaded tools + the `bb`</a:t>
            </a:r>
          </a:p>
          <a:p>
            <a:r>
              <a:t>  sandbox SDK (src/boxbot/sdk/). That's the surface area we maintain.</a:t>
            </a:r>
          </a:p>
          <a:p>
            <a:r>
              <a:t>• So "adding a feature" = adding/editing a text file, not shipping a build. That</a:t>
            </a:r>
          </a:p>
          <a:p>
            <a:r>
              <a:t>  is the structural claim the rest of the talk makes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grid. This is the modern smart-home app — and it's a good app. But notice</a:t>
            </a:r>
          </a:p>
          <a:p>
            <a:r>
              <a:t>the pattern: every single thing the product can do is a surface. A screen you have</a:t>
            </a:r>
          </a:p>
          <a:p>
            <a:r>
              <a:t>to discover, a menu you have to learn, a rule you have to assemble. The intelligence</a:t>
            </a:r>
          </a:p>
          <a:p>
            <a:r>
              <a:t>lives in the user's head — they have to translate what they want into the app's</a:t>
            </a:r>
          </a:p>
          <a:p>
            <a:r>
              <a:t>vocabulary. The richer the product gets, the more surfaces there are to wrangle.</a:t>
            </a:r>
          </a:p>
          <a:p>
            <a:r>
              <a:t>Keep this grid in mind; we're going to make it disappear.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Contrast to draw if useful: in a conventional stack each tile on this grid is</a:t>
            </a:r>
          </a:p>
          <a:p>
            <a:r>
              <a:t>  code we build and own — a settings screen, a rule row in a DB, a notification</a:t>
            </a:r>
          </a:p>
          <a:p>
            <a:r>
              <a:t>  dispatcher service, a feature flag, a help-doc CMS, plus the test matrix for all</a:t>
            </a:r>
          </a:p>
          <a:p>
            <a:r>
              <a:t>  of it.</a:t>
            </a:r>
          </a:p>
          <a:p>
            <a:r>
              <a:t>• In the agent model those collapse into four reusable primitives, none of which</a:t>
            </a:r>
          </a:p>
          <a:p>
            <a:r>
              <a:t>  the user navigates:</a:t>
            </a:r>
          </a:p>
          <a:p>
            <a:r>
              <a:t>    – skills (instructions)           – integrations (data pipes, manifest+script)</a:t>
            </a:r>
          </a:p>
          <a:p>
            <a:r>
              <a:t>    – displays (declarative specs)    – triggers (wake conditions, core/scheduler.py)</a:t>
            </a:r>
          </a:p>
          <a:p>
            <a:r>
              <a:t>• There's nothing to navigate because there's no UI to navigate. The agent IS the</a:t>
            </a:r>
          </a:p>
          <a:p>
            <a:r>
              <a:t>  interface; the "surfaces" become things it operates, not things the user learns.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real job-to-be-done from my own family. My wife was the household</a:t>
            </a:r>
          </a:p>
          <a:p>
            <a:r>
              <a:t>scheduler; she wanted to stay in the loop when I add things. Simple human request.</a:t>
            </a:r>
          </a:p>
          <a:p>
            <a:r>
              <a:t>Let's watch what it takes to satisfy it in today's model versus the agent model.</a:t>
            </a:r>
          </a:p>
          <a:p>
            <a:r>
              <a:t>This is the heart of the talk — the next three slides are the payoff.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Worth knowing for Q&amp;A: the calendar is an INTEGRATION, not a skill —</a:t>
            </a:r>
          </a:p>
          <a:p>
            <a:r>
              <a:t>  integrations/calendar/{manifest.yaml, script.py}. The manifest declares inputs</a:t>
            </a:r>
          </a:p>
          <a:p>
            <a:r>
              <a:t>  (action: list_upcoming_events / create_event / update_event / delete_event),</a:t>
            </a:r>
          </a:p>
          <a:p>
            <a:r>
              <a:t>  outputs, a required secret (GOOGLE_CALENDAR_TOKEN_JSON), and a 20s timeout.</a:t>
            </a:r>
          </a:p>
          <a:p>
            <a:r>
              <a:t>• script.py runs sandboxed; it handles Google OAuth token refresh and persists the</a:t>
            </a:r>
          </a:p>
          <a:p>
            <a:r>
              <a:t>  rotated token back via bb.secrets. The agent reaches it with:</a:t>
            </a:r>
          </a:p>
          <a:p>
            <a:r>
              <a:t>    bb.integrations.get("calendar", action="list_upcoming_events", max_results=5)</a:t>
            </a:r>
          </a:p>
          <a:p>
            <a:r>
              <a:t>• So "the calendar" is already a clean, callable data pipe before any of the</a:t>
            </a:r>
          </a:p>
          <a:p>
            <a:r>
              <a:t>  notification logic exists. That separation is what makes the next slide a</a:t>
            </a:r>
          </a:p>
          <a:p>
            <a:r>
              <a:t> 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way. Even when the app supports it, the user has to become a rules</a:t>
            </a:r>
          </a:p>
          <a:p>
            <a:r>
              <a:t>programmer for a moment: choose a channel, choose recipients, find the right</a:t>
            </a:r>
          </a:p>
          <a:p>
            <a:r>
              <a:t>trigger, scope the timeframe. And step back — for ANY of this to exist, our</a:t>
            </a:r>
          </a:p>
          <a:p>
            <a:r>
              <a:t>engineering org had to design and build and maintain that whole rule-builder:</a:t>
            </a:r>
          </a:p>
          <a:p>
            <a:r>
              <a:t>the UI, the condition logic, the delivery backend, the test matrix. Multiply that</a:t>
            </a:r>
          </a:p>
          <a:p>
            <a:r>
              <a:t>by every feature. That's the cost structure of the current model.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The point to land: this column is the part we DON'T build in the agent model.</a:t>
            </a:r>
          </a:p>
          <a:p>
            <a:r>
              <a:t>  In today's stack, shipping this one feature means designing and maintaining:</a:t>
            </a:r>
          </a:p>
          <a:p>
            <a:r>
              <a:t>    – a rule schema + storage          – a builder UI (channel/recipient/condition pickers)</a:t>
            </a:r>
          </a:p>
          <a:p>
            <a:r>
              <a:t>    – a condition evaluator            – a multi-channel delivery service (SMS/push/email)</a:t>
            </a:r>
          </a:p>
          <a:p>
            <a:r>
              <a:t>    – quiet-hours / timeframe logic    – the regression test matrix for all of it</a:t>
            </a:r>
          </a:p>
          <a:p>
            <a:r>
              <a:t>• Every one of those is durable engineering surface that has to be kept alive</a:t>
            </a:r>
          </a:p>
          <a:p>
            <a:r>
              <a:t>  across OS versions, channel API changes, and edge cases — forever, per feature.</a:t>
            </a:r>
          </a:p>
          <a:p>
            <a:r>
              <a:t>• The next slide deletes this entire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new way. She says it in plain language, the way she'd ask a person. The agent</a:t>
            </a:r>
          </a:p>
          <a:p>
            <a:r>
              <a:t>already has a calendar skill — a small text file of instructions for how it uses</a:t>
            </a:r>
          </a:p>
          <a:p>
            <a:r>
              <a:t>its calendar tools. It appends one line. That's the entire implementation. No</a:t>
            </a:r>
          </a:p>
          <a:p>
            <a:r>
              <a:t>recipient picker, no trigger UI, no backend rule. The behavior she wanted now</a:t>
            </a:r>
          </a:p>
          <a:p>
            <a:r>
              <a:t>exists, and it was authored by the agent, on the spot, in the channel she was</a:t>
            </a:r>
          </a:p>
          <a:p>
            <a:r>
              <a:t>already using.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TWO LAYERS — the authoring, and the firing.</a:t>
            </a:r>
          </a:p>
          <a:p/>
          <a:p>
            <a:r>
              <a:t>1) THE AUTHORING (fully working):</a:t>
            </a:r>
          </a:p>
          <a:p>
            <a:r>
              <a:t>• The skill is skills/calendar/SKILL.md — YAML frontmatter (name + description,</a:t>
            </a:r>
          </a:p>
          <a:p>
            <a:r>
              <a:t>  ≤1024 chars, injected into the system prompt as Level-1 metadata) plus a ≤5 KB</a:t>
            </a:r>
          </a:p>
          <a:p>
            <a:r>
              <a:t>  markdown body of instructions.</a:t>
            </a:r>
          </a:p>
          <a:p>
            <a:r>
              <a:t>• The agent edits it at runtime from inside the sandbox via the bb.skill module</a:t>
            </a:r>
          </a:p>
          <a:p>
            <a:r>
              <a:t>  (create / set body / save → file written boxbot:boxbot, 0644). load_skill pulls</a:t>
            </a:r>
          </a:p>
          <a:p>
            <a:r>
              <a:t>  the body into context on demand (3-level progressive disclosure).</a:t>
            </a:r>
          </a:p>
          <a:p>
            <a:r>
              <a:t>• So "one line added" is real: a diff to one markdown file, authored by the agent.</a:t>
            </a:r>
          </a:p>
          <a:p/>
          <a:p>
            <a:r>
              <a:t>2) THE FIRING — BE HONEST IF ASKED (designed; today via polling, not a webhook):</a:t>
            </a:r>
          </a:p>
          <a:p>
            <a:r>
              <a:t>• Working today: triggers (core/scheduler.py — fire_at / fire_after / cron /</a:t>
            </a:r>
          </a:p>
          <a:p>
            <a:r>
              <a:t>  person, AND-combinable); the agent wakes on a TriggerFired event</a:t>
            </a:r>
          </a:p>
          <a:p>
            <a:r>
              <a:t>  (core/agent.py::_on_trigger_fired) and runs a one-shot conversation; outbound</a:t>
            </a:r>
          </a:p>
          <a:p>
            <a:r>
              <a:t>  WhatsApp via the `message` tool → core/output_dispatcher.py → MessageRouter →</a:t>
            </a:r>
          </a:p>
          <a:p>
            <a:r>
              <a:t>  Meta Graph API (communication/{router.py, whatsapp.py}).</a:t>
            </a:r>
          </a:p>
          <a:p>
            <a:r>
              <a:t>• NOT yet wired: a Google Calendar push-webhook, or a "poll-and-diff" trigger type.</a:t>
            </a:r>
          </a:p>
          <a:p>
            <a:r>
              <a:t>• Honest demo framing: a cron trigger (e.g. every ~10 min) calls the calendar</a:t>
            </a:r>
          </a:p>
          <a:p>
            <a:r>
              <a:t>  integration, diffs against a snapshot in bb.workspace, and texts on a new event.</a:t>
            </a:r>
          </a:p>
          <a:p>
            <a:r>
              <a:t>  You can present this as "works today via polling" — just don't imply an instant</a:t>
            </a:r>
          </a:p>
          <a:p>
            <a:r>
              <a:t>  event-driven push, which isn't built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job, three columns of difference. The interface collapsed from a builder to a</a:t>
            </a:r>
          </a:p>
          <a:p>
            <a:r>
              <a:t>sentence. The implementation collapsed from a four-part rule to one line. And the</a:t>
            </a:r>
          </a:p>
          <a:p>
            <a:r>
              <a:t>work moved from us-in-advance to the-agent-on-demand. For a CX org this is the</a:t>
            </a:r>
          </a:p>
          <a:p>
            <a:r>
              <a:t>headline: the gap between 'what the customer wants' and 'the product does it'</a:t>
            </a:r>
          </a:p>
          <a:p>
            <a:r>
              <a:t>shrinks to one message. That gap is where churn and support tickets live today.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Concretely, the "implementation" is a diff to one markdown file. No schema</a:t>
            </a:r>
          </a:p>
          <a:p>
            <a:r>
              <a:t>  migration, no deploy, no feature flag, no app-store review.</a:t>
            </a:r>
          </a:p>
          <a:p>
            <a:r>
              <a:t>• It was authored by the agent from inside the OS-level sandbox (boxbot-sandbox</a:t>
            </a:r>
          </a:p>
          <a:p>
            <a:r>
              <a:t>  user; seccomp blocks execve/fork; .env is 0600 and unreadable to the sandbox;</a:t>
            </a:r>
          </a:p>
          <a:p>
            <a:r>
              <a:t>  site-packages read-only). So letting users drive changes via the agent does NOT</a:t>
            </a:r>
          </a:p>
          <a:p>
            <a:r>
              <a:t>  hand them a path into core code or secrets — the blast radius is a text file.</a:t>
            </a:r>
          </a:p>
          <a:p>
            <a:r>
              <a:t>• The delivery path it "wrote" already existed (the `message` tool). The agent</a:t>
            </a:r>
          </a:p>
          <a:p>
            <a:r>
              <a:t>  composed existing primitives; it didn't generate privileged code. That's the</a:t>
            </a:r>
          </a:p>
          <a:p>
            <a:r>
              <a:t>  safety story behind "the agent builds features."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device itself. Raspberry Pi in a wooden box: camera, mic, speaker, a 7-inch</a:t>
            </a:r>
          </a:p>
          <a:p>
            <a:r>
              <a:t>screen, and a WhatsApp line. Functionally it's a family executive assistant — it</a:t>
            </a:r>
          </a:p>
          <a:p>
            <a:r>
              <a:t>knows who's in the room, holds a conversation, remembers what matters, runs the</a:t>
            </a:r>
          </a:p>
          <a:p>
            <a:r>
              <a:t>calendar and tasks and photos, and can reach you when you're out. [PLAY THE DEMO</a:t>
            </a:r>
          </a:p>
          <a:p>
            <a:r>
              <a:t>CLIP HERE] — keep it short: one spoken request, the voice answer, and the screen</a:t>
            </a:r>
          </a:p>
          <a:p>
            <a:r>
              <a:t>reacting. Let them feel that it's a real, present thing, not a chatbot.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VOICE PATH (src/boxbot/communication/): OpenWakeWord "BB" (ONNX) → Silero VAD →</a:t>
            </a:r>
          </a:p>
          <a:p>
            <a:r>
              <a:t>AudioCapture (utterance boundaries) → pyannote diarization on CPU (attributed,</a:t>
            </a:r>
          </a:p>
          <a:p>
            <a:r>
              <a:t>multi-speaker) → ElevenLabs Scribe STT → agent → ElevenLabs streaming TTS.</a:t>
            </a:r>
          </a:p>
          <a:p>
            <a:r>
              <a:t>~3-4s from end-of-speech to first spoken word. NOTE: not a real-time streaming</a:t>
            </a:r>
          </a:p>
          <a:p>
            <a:r>
              <a:t>voice agent — the agent receives attributed transcripts and decides whether/when</a:t>
            </a:r>
          </a:p>
          <a:p>
            <a:r>
              <a:t>to reply.</a:t>
            </a:r>
          </a:p>
          <a:p/>
          <a:p>
            <a:r>
              <a:t>VISION / WHO'S IN THE ROOM (src/boxbot/perception/): YOLOv5s-personface on the</a:t>
            </a:r>
          </a:p>
          <a:p>
            <a:r>
              <a:t>Hailo NPU → RepVGG-A0 ReID embeddings (128-dim) on Hailo; pyannote voice</a:t>
            </a:r>
          </a:p>
          <a:p>
            <a:r>
              <a:t>embeddings + mic-array DOA fused in fusion.py. Voice-confirmed identity gates</a:t>
            </a:r>
          </a:p>
          <a:p>
            <a:r>
              <a:t>whether visual embeddings get written to the cloud. Identities are injected into</a:t>
            </a:r>
          </a:p>
          <a:p>
            <a:r>
              <a:t>the prompt as tiered text, e.g. "[Jacob] (voice: high 0.92)" — the agent never</a:t>
            </a:r>
          </a:p>
          <a:p>
            <a:r>
              <a:t>sees raw embeddings.</a:t>
            </a:r>
          </a:p>
          <a:p/>
          <a:p>
            <a:r>
              <a:t>ONE CONVERSATION ABSTRACTION (core/conversation.py): states LISTENING / THINKING /</a:t>
            </a:r>
          </a:p>
          <a:p>
            <a:r>
              <a:t>SPEAKING / ENDED. Voice = transient (180s silence timer, in-memory). WhatsApp =</a:t>
            </a:r>
          </a:p>
          <a:p>
            <a:r>
              <a:t>persistent (SQLite ConversationStore, ~4h window). Voice and WhatsApp run as</a:t>
            </a:r>
          </a:p>
          <a:p>
            <a:r>
              <a:t>separate conversations in parallel.</a:t>
            </a:r>
          </a:p>
          <a:p/>
          <a:p>
            <a:r>
              <a:t>HONEST FLAG (barge-in): the design mentions "graduated yielding," but what's built</a:t>
            </a:r>
          </a:p>
          <a:p>
            <a:r>
              <a:t>is binary, wake-word-gated re-engagement — STT detaches from the mic during TTS;</a:t>
            </a:r>
          </a:p>
          <a:p>
            <a:r>
              <a:t>saying "BB" cancels the in-flight generation, folds the partial reply in as an</a:t>
            </a:r>
          </a:p>
          <a:p>
            <a:r>
              <a:t>interrupted turn, and restarts. Cleaner for noisy multi-speaker rooms; just don't</a:t>
            </a:r>
          </a:p>
          <a:p>
            <a:r>
              <a:t>claim soft/volume-fade barge-in.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 it's deliberately simple, and this is the part to internalize. The</a:t>
            </a:r>
          </a:p>
          <a:p>
            <a:r>
              <a:t>agent has a SMALL number of tools — its hands, always attached. It has SKILLS —</a:t>
            </a:r>
          </a:p>
          <a:p>
            <a:r>
              <a:t>modular text files that teach it how to use those hands for a given job; that</a:t>
            </a:r>
          </a:p>
          <a:p>
            <a:r>
              <a:t>calendar line from earlier lived in a skill. And it has DISPLAYS — the screen is</a:t>
            </a:r>
          </a:p>
          <a:p>
            <a:r>
              <a:t>something it composes, not a fixed set of widgets we shipped. Three primitives.</a:t>
            </a:r>
          </a:p>
          <a:p>
            <a:r>
              <a:t>Almost everything the product 'does' is now text the agent reads and edits, not</a:t>
            </a:r>
          </a:p>
          <a:p>
            <a:r>
              <a:t>code we hard-wire.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Slight correction for accuracy if asked: there are actually 10 always-loaded</a:t>
            </a:r>
          </a:p>
          <a:p>
            <a:r>
              <a:t>  tools (tools/registry.py): execute_script, switch_display, identify_person,</a:t>
            </a:r>
          </a:p>
          <a:p>
            <a:r>
              <a:t>  manage_tasks, search_memory, search_photos, web_search, load_skill, message,</a:t>
            </a:r>
          </a:p>
          <a:p>
            <a:r>
              <a:t>  mute_mic. The slide says "small set" — that's the honest spirit.</a:t>
            </a:r>
          </a:p>
          <a:p>
            <a:r>
              <a:t>• execute_script is the gateway. It runs Python as the boxbot-sandbox user and</a:t>
            </a:r>
          </a:p>
          <a:p>
            <a:r>
              <a:t>  speaks streaming bidirectional JSON: the sandbox emits __BOXBOT_SDK_ACTION__</a:t>
            </a:r>
          </a:p>
          <a:p>
            <a:r>
              <a:t>  lines, the main process dispatches each to a per-module handler</a:t>
            </a:r>
          </a:p>
          <a:p>
            <a:r>
              <a:t>  (tools/_sandbox_actions.py), writes a JSON reply back, and collects any image</a:t>
            </a:r>
          </a:p>
          <a:p>
            <a:r>
              <a:t>  attachments into a multimodal tool result. That's how one script can compose</a:t>
            </a:r>
          </a:p>
          <a:p>
            <a:r>
              <a:t>  many ops (camera + workspace + display + memory…) in a single turn.</a:t>
            </a:r>
          </a:p>
          <a:p>
            <a:r>
              <a:t>• The agent's own text output is a PRIVATE scratchpad (INTERNAL_NOTES_SCHEMA:</a:t>
            </a:r>
          </a:p>
          <a:p>
            <a:r>
              <a:t>  thought / observations — never delivered). To reach a human it MUST call the</a:t>
            </a:r>
          </a:p>
          <a:p>
            <a:r>
              <a:t>  `message` tool. That structural boundary is why nothing leaks by accident.</a:t>
            </a:r>
          </a:p>
          <a:p>
            <a:r>
              <a:t>• Skills = skills/*/SKILL.md (3-level progressive disclosure). Displays =</a:t>
            </a:r>
          </a:p>
          <a:p>
            <a:r>
              <a:t>  declarative JSON specs (block tree only, no executable render code) — so there's</a:t>
            </a:r>
          </a:p>
          <a:p>
            <a:r>
              <a:t>  no privileged code path to gate when the agent authors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actual screens off the device. The morning brief, a home-and-power</a:t>
            </a:r>
          </a:p>
          <a:p>
            <a:r>
              <a:t>dashboard, the in-conversation view. The user never picked these from a gallery and</a:t>
            </a:r>
          </a:p>
          <a:p>
            <a:r>
              <a:t>never arranged the tiles. The agent assembled each one for the moment it was needed</a:t>
            </a:r>
          </a:p>
          <a:p>
            <a:r>
              <a:t>— morning vs. mid-conversation. The screen is fluid. Which sets up the obvious</a:t>
            </a:r>
          </a:p>
          <a:p>
            <a:r>
              <a:t>question: what if the user wants something we never designed?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Block system (src/boxbot/displays/): 24 block types — 7 layout containers (row,</a:t>
            </a:r>
          </a:p>
          <a:p>
            <a:r>
              <a:t>  column, columns, card, spacer, divider, repeat), 13 content blocks (text, metric,</a:t>
            </a:r>
          </a:p>
          <a:p>
            <a:r>
              <a:t>  badge, list, table, key_value, icon, emoji, image, chart, progress, clock,</a:t>
            </a:r>
          </a:p>
          <a:p>
            <a:r>
              <a:t>  countdown), 2 composite widgets (weather, calendar), 2 meta (rotate, page_dots).</a:t>
            </a:r>
          </a:p>
          <a:p>
            <a:r>
              <a:t>  Registered in blocks.py::BLOCK_REGISTRY.</a:t>
            </a:r>
          </a:p>
          <a:p>
            <a:r>
              <a:t>• A display is a JSON spec (see displays/morning_brief/display.json): name, theme,</a:t>
            </a:r>
          </a:p>
          <a:p>
            <a:r>
              <a:t>  data_sources[], and one layout tree. No code in the spec.</a:t>
            </a:r>
          </a:p>
          <a:p>
            <a:r>
              <a:t>• Live data via {source.field} bindings, resolved in spec.py. A DataSourceManager</a:t>
            </a:r>
          </a:p>
          <a:p>
            <a:r>
              <a:t>  (data_sources.py) runs a per-source async refresh loop and caches last-good data,</a:t>
            </a:r>
          </a:p>
          <a:p>
            <a:r>
              <a:t>  so a fetch error shows stale values, never a blank tile. Renderer (renderer.py)</a:t>
            </a:r>
          </a:p>
          <a:p>
            <a:r>
              <a:t>  composes a PIL 1024x600 image → pygame.</a:t>
            </a:r>
          </a:p>
          <a:p>
            <a:r>
              <a:t>• These three are real preview renders off that pipeline. The agent authors a spec</a:t>
            </a:r>
          </a:p>
          <a:p>
            <a:r>
              <a:t>  as a dict and calls bb.display.preview → it VIEWS the resulting PNG (multimodal)</a:t>
            </a:r>
          </a:p>
          <a:p>
            <a:r>
              <a:t>  → iterates → bb.display.save. It never writes render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unlock. 'Add solar generation to my summary.' 'Put surf conditions on</a:t>
            </a:r>
          </a:p>
          <a:p>
            <a:r>
              <a:t>the morning screen.' In today's world each of those is a feature request that joins</a:t>
            </a:r>
          </a:p>
          <a:p>
            <a:r>
              <a:t>a backlog. Here, the agent finds or builds the data pipeline, maps it onto an</a:t>
            </a:r>
          </a:p>
          <a:p>
            <a:r>
              <a:t>existing widget, and the tile appears. The widget LIBRARY is the durable thing we</a:t>
            </a:r>
          </a:p>
          <a:p>
            <a:r>
              <a:t>build once; the infinite arrangements of it come for free. That's the leverage.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The "data pipe" is concrete: either an INTEGRATION the agent authors</a:t>
            </a:r>
          </a:p>
          <a:p>
            <a:r>
              <a:t>  (bb.integrations.create → manifest.yaml + script.py, sandbox-run on call), or a</a:t>
            </a:r>
          </a:p>
          <a:p>
            <a:r>
              <a:t>  built-in http_json data source with declarative field extraction and value→</a:t>
            </a:r>
          </a:p>
          <a:p>
            <a:r>
              <a:t>  icon/color `map` transforms — no code in the display spec either way.</a:t>
            </a:r>
          </a:p>
          <a:p>
            <a:r>
              <a:t>• Any API key goes through bb.secrets, which is WRITE-ONLY to the sandbox: the</a:t>
            </a:r>
          </a:p>
          <a:p>
            <a:r>
              <a:t>  agent can store a key but can never read it back. The main process injects it as</a:t>
            </a:r>
          </a:p>
          <a:p>
            <a:r>
              <a:t>  a BOXBOT_SECRET_&lt;NAME&gt; env var only when the declaring integration runs. So the</a:t>
            </a:r>
          </a:p>
          <a:p>
            <a:r>
              <a:t>  agent can USE a credential it cannot exfiltrate.</a:t>
            </a:r>
          </a:p>
          <a:p>
            <a:r>
              <a:t>• A new integration/source is live on the next read — no restart. The durable</a:t>
            </a:r>
          </a:p>
          <a:p>
            <a:r>
              <a:t>  asset we build once is the widget/block + source LIBRARY; every arrangement of it</a:t>
            </a:r>
          </a:p>
          <a:p>
            <a:r>
              <a:t>  (solar, surf, sports…) is then free and agent-assembled.</a:t>
            </a:r>
          </a:p>
          <a:p>
            <a:r>
              <a:t>• Honest aside: bb.packages (request a new pip dependency, human-approved) is</a:t>
            </a:r>
          </a:p>
          <a:p>
            <a:r>
              <a:t>  designed but the approval handler isn't wired yet — so "new data source" today</a:t>
            </a:r>
          </a:p>
          <a:p>
            <a:r>
              <a:t>  means stdlib/requests-style fetches, not arbitrary new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up a level from displays to the whole app. If layout, theme, and behavior are</a:t>
            </a:r>
          </a:p>
          <a:p>
            <a:r>
              <a:t>configuration the agent can read and write — not code compiled into the binary —</a:t>
            </a:r>
          </a:p>
          <a:p>
            <a:r>
              <a:t>then 'changes to the product' stop being engineering projects. Dark mode is the</a:t>
            </a:r>
          </a:p>
          <a:p>
            <a:r>
              <a:t>canonical example. Today it's a multi-quarter effort with a thousand tickets. In</a:t>
            </a:r>
          </a:p>
          <a:p>
            <a:r>
              <a:t>this architecture the user says 'I prefer dark mode,' the agent edits the theme</a:t>
            </a:r>
          </a:p>
          <a:p>
            <a:r>
              <a:t>value, and asks 'does this look right?' Up-front work to build the harness; an</a:t>
            </a:r>
          </a:p>
          <a:p>
            <a:r>
              <a:t>enormous amount of capability for free afterward.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Themes are config, not code: 4 built-ins as dataclasses in displays/themes.py</a:t>
            </a:r>
          </a:p>
          <a:p>
            <a:r>
              <a:t>  (boxbot, midnight, daylight, classic), plus community themes as YAML in themes/.</a:t>
            </a:r>
          </a:p>
          <a:p>
            <a:r>
              <a:t>  Each defines colors / fonts / spacing / radius / shadow / icon_style.</a:t>
            </a:r>
          </a:p>
          <a:p>
            <a:r>
              <a:t>• "Add dark mode" = the agent setting a spec's `theme` field (or editing theme</a:t>
            </a:r>
          </a:p>
          <a:p>
            <a:r>
              <a:t>  values) → bb.display.preview → it views the PNG → asks the user. Same pattern for</a:t>
            </a:r>
          </a:p>
          <a:p>
            <a:r>
              <a:t>  layout (edit the block tree) and behavior (edit a SKILL.md or system.md line).</a:t>
            </a:r>
          </a:p>
          <a:p>
            <a:r>
              <a:t>• Guardrails make this safe to expose: specs are validated before save (spec.py),</a:t>
            </a:r>
          </a:p>
          <a:p>
            <a:r>
              <a:t>  and system memory has hard limits (4 KB cap, fixed section schema, version</a:t>
            </a:r>
          </a:p>
          <a:p>
            <a:r>
              <a:t>  history, no-secrets rule). The agent edits configuration; it can't reach in and</a:t>
            </a:r>
          </a:p>
          <a:p>
            <a:r>
              <a:t>  rewrite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it home for a CX audience. Three layered wins. One, the experience is better</a:t>
            </a:r>
          </a:p>
          <a:p>
            <a:r>
              <a:t>and stickier — walk-up-and-talk, and once it's holding the household's life it</a:t>
            </a:r>
          </a:p>
          <a:p>
            <a:r>
              <a:t>moves with the customer. Two, our build-and-maintain cost drops hard: no more</a:t>
            </a:r>
          </a:p>
          <a:p>
            <a:r>
              <a:t>sprawling settings, rule engines, and wizards to keep alive — features become text</a:t>
            </a:r>
          </a:p>
          <a:p>
            <a:r>
              <a:t>files. Three, and most strategic: trust. A thing your family talks to daily earns a</a:t>
            </a:r>
          </a:p>
          <a:p>
            <a:r>
              <a:t>relationship a website chatbot can't. In the AI age, that relationship plus the</a:t>
            </a:r>
          </a:p>
          <a:p>
            <a:r>
              <a:t>backend is the moat.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Stickiness is backed by memory (src/boxbot/memory/, data/memory/): an</a:t>
            </a:r>
          </a:p>
          <a:p>
            <a:r>
              <a:t>  always-loaded system.md of household facts + typed fact memories in SQLite,</a:t>
            </a:r>
          </a:p>
          <a:p>
            <a:r>
              <a:t>  retrieved by hybrid search (on-device MiniLM 384-dim vectors, 0.6, + BM25, 0.4)</a:t>
            </a:r>
          </a:p>
          <a:p>
            <a:r>
              <a:t>  with a Haiku rerank. It accrues a model of the household and carries between</a:t>
            </a:r>
          </a:p>
          <a:p>
            <a:r>
              <a:t>  rooms/devices — that's the "knows you" feeling.</a:t>
            </a:r>
          </a:p>
          <a:p>
            <a:r>
              <a:t>• Cost: the two-model split keeps the cheap model (Haiku) on the high-frequency,</a:t>
            </a:r>
          </a:p>
          <a:p>
            <a:r>
              <a:t>  low-stakes work. Your thesis figure is ~$20/mo/home and falling; the task needs</a:t>
            </a:r>
          </a:p>
          <a:p>
            <a:r>
              <a:t>  bounded intelligence, and the Hailo NPU absorbs simple on-device work.</a:t>
            </a:r>
          </a:p>
          <a:p>
            <a:r>
              <a:t>• "Engineering burden collapses" is the OS-sandbox story in reverse: because</a:t>
            </a:r>
          </a:p>
          <a:p>
            <a:r>
              <a:t>  agent-authored changes are just text files in an isolated sandbox (seccomp blocks</a:t>
            </a:r>
          </a:p>
          <a:p>
            <a:r>
              <a:t>  execve/fork, .env 0600 unreadable, site-packages read-only), you can let the</a:t>
            </a:r>
          </a:p>
          <a:p>
            <a:r>
              <a:t>  product expand via the agent without expanding the attack surface or the</a:t>
            </a:r>
          </a:p>
          <a:p>
            <a:r>
              <a:t>  maintenance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inversion we opened with. We've spent a decade getting very good at</a:t>
            </a:r>
          </a:p>
          <a:p>
            <a:r>
              <a:t>building surfaces — screens, settings, rules. The opportunity is to stop shipping</a:t>
            </a:r>
          </a:p>
          <a:p>
            <a:r>
              <a:t>surfaces and ship the assistant that builds them on demand. We're one of the few</a:t>
            </a:r>
          </a:p>
          <a:p>
            <a:r>
              <a:t>companies actually positioned to do it: the dealer channel, the device integrations,</a:t>
            </a:r>
          </a:p>
          <a:p>
            <a:r>
              <a:t>the security backend the FAANG players can't replicate. I'd love to talk about</a:t>
            </a:r>
          </a:p>
          <a:p>
            <a:r>
              <a:t>where CX leads from here. Questions.</a:t>
            </a:r>
          </a:p>
          <a:p/>
          <a:p>
            <a:r>
              <a:t>————————————————————————————</a:t>
            </a:r>
          </a:p>
          <a:p>
            <a:r>
              <a:t>TECHNICAL IMPLEMENTATION  (optional depth — weave in as you like)</a:t>
            </a:r>
          </a:p>
          <a:p>
            <a:r>
              <a:t>————————————————————————————</a:t>
            </a:r>
          </a:p>
          <a:p>
            <a:r>
              <a:t>• The summary architecture point: the durable, hand-built assets are SMALL and</a:t>
            </a:r>
          </a:p>
          <a:p>
            <a:r>
              <a:t>  stable — the agent harness (loop + Conversation abstraction), the 10 tools, the</a:t>
            </a:r>
          </a:p>
          <a:p>
            <a:r>
              <a:t>  `bb` sandbox SDK, the widget/block + theme library, and the backend integrations.</a:t>
            </a:r>
          </a:p>
          <a:p>
            <a:r>
              <a:t>  Everything user-facing (skills, displays, behaviors) is generated text/specs.</a:t>
            </a:r>
          </a:p>
          <a:p>
            <a:r>
              <a:t>• That's the whole thesis in one line: a feature is a text file, and the UI is</a:t>
            </a:r>
          </a:p>
          <a:p>
            <a:r>
              <a:t>  whatever the user asks for, because the agent composes durable primitives instead</a:t>
            </a:r>
          </a:p>
          <a:p>
            <a:r>
              <a:t>  of us shipping new surfaces.</a:t>
            </a:r>
          </a:p>
          <a:p>
            <a:r>
              <a:t>• Honest "not-yet" list for credibility if pushed: calendar firing is poll-and-diff</a:t>
            </a:r>
          </a:p>
          <a:p>
            <a:r>
              <a:t>  not a push-webhook; barge-in is binary wake-word, not graduated; bb.packages</a:t>
            </a:r>
          </a:p>
          <a:p>
            <a:r>
              <a:t>  approval flow isn't wired. All are designed-for and small to close — good</a:t>
            </a:r>
          </a:p>
          <a:p>
            <a:r>
              <a:t>  "here's the roadmap" answers, not gaps in the core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993392"/>
            <a:ext cx="640080" cy="508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spc="400">
                <a:solidFill>
                  <a:srgbClr val="E8915B"/>
                </a:solidFill>
                <a:latin typeface="Arial"/>
              </a:rPr>
              <a:t>boxBot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5800" b="1">
                <a:solidFill>
                  <a:srgbClr val="F1ECE5"/>
                </a:solidFill>
                <a:latin typeface="Arial"/>
              </a:rPr>
              <a:t>Smart Home 2.0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9A9086"/>
                </a:solidFill>
                <a:latin typeface="Arial"/>
              </a:rPr>
              <a:t>An AI-native approach to the connected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6B6259"/>
                </a:solidFill>
                <a:latin typeface="Arial"/>
              </a:rPr>
              <a:t>A working prototype — and a different way to think about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640080"/>
            <a:ext cx="3383280" cy="5577840"/>
          </a:xfrm>
          <a:prstGeom prst="roundRect">
            <a:avLst>
              <a:gd name="adj" fmla="val 4000"/>
            </a:avLst>
          </a:prstGeom>
          <a:solidFill>
            <a:srgbClr val="26201B"/>
          </a:solidFill>
          <a:ln w="15875">
            <a:solidFill>
              <a:srgbClr val="D27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640080"/>
            <a:ext cx="3383280" cy="5577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915B"/>
                </a:solidFill>
                <a:latin typeface="Arial"/>
              </a:rPr>
              <a:t>▶  BB PHOTO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086"/>
                </a:solidFill>
                <a:latin typeface="Arial"/>
              </a:rPr>
              <a:t>the device, on the counter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3800" b="0">
                <a:solidFill>
                  <a:srgbClr val="F1ECE5"/>
                </a:solidFill>
                <a:latin typeface="Arial"/>
              </a:rPr>
              <a:t>The platform of the next decade is </a:t>
            </a:r>
            <a:r>
              <a:rPr sz="3800" b="0">
                <a:solidFill>
                  <a:srgbClr val="9A9086"/>
                </a:solidFill>
                <a:latin typeface="Arial"/>
              </a:rPr>
              <a:t>not</a:t>
            </a:r>
            <a:r>
              <a:rPr sz="3800" b="0">
                <a:solidFill>
                  <a:srgbClr val="F1ECE5"/>
                </a:solidFill>
                <a:latin typeface="Arial"/>
              </a:rPr>
              <a:t> our app with an assistant added 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3800" b="0">
                <a:solidFill>
                  <a:srgbClr val="F1ECE5"/>
                </a:solidFill>
                <a:latin typeface="Arial"/>
              </a:rPr>
              <a:t>It </a:t>
            </a:r>
            <a:r>
              <a:rPr sz="3800" b="1">
                <a:solidFill>
                  <a:srgbClr val="E8915B"/>
                </a:solidFill>
                <a:latin typeface="Arial"/>
              </a:rPr>
              <a:t>is</a:t>
            </a:r>
            <a:r>
              <a:rPr sz="3800" b="1">
                <a:solidFill>
                  <a:srgbClr val="F1ECE5"/>
                </a:solidFill>
                <a:latin typeface="Arial"/>
              </a:rPr>
              <a:t> the assistant, with the home built around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1ECE5"/>
                </a:solidFill>
                <a:latin typeface="Arial"/>
              </a:rPr>
              <a:t>To get what you want, you go to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8892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Fixed widgets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88920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Notification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788920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788920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Settings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096512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96512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Automation wizards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096512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096512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Device menus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4096512"/>
            <a:ext cx="33832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096512"/>
            <a:ext cx="2926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F1ECE5"/>
                </a:solidFill>
                <a:latin typeface="Arial"/>
              </a:rPr>
              <a:t>Help 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9A9086"/>
                </a:solidFill>
                <a:latin typeface="Arial"/>
              </a:rPr>
              <a:t>Every capability is a surface the user has to find, learn, and configure.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A CONCRETE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1ECE5"/>
                </a:solidFill>
                <a:latin typeface="Arial"/>
              </a:rPr>
              <a:t>“Text my wife whenever I add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1ECE5"/>
                </a:solidFill>
                <a:latin typeface="Arial"/>
              </a:rPr>
              <a:t>something to the family calendar.”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>
                <a:solidFill>
                  <a:srgbClr val="E8915B"/>
                </a:solidFill>
                <a:latin typeface="Arial"/>
              </a:rPr>
              <a:t>A real request from my house. Let's do it both 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731520"/>
            <a:ext cx="457200" cy="38100"/>
          </a:xfrm>
          <a:prstGeom prst="rect">
            <a:avLst/>
          </a:prstGeom>
          <a:solidFill>
            <a:srgbClr val="D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58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D27A48"/>
                </a:solidFill>
                <a:latin typeface="Arial"/>
              </a:rPr>
              <a:t>THE OLD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1ECE5"/>
                </a:solidFill>
                <a:latin typeface="Arial"/>
              </a:rPr>
              <a:t>Open settings. Build the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31720"/>
            <a:ext cx="10515600" cy="292608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3C3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62432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spc="200">
                <a:solidFill>
                  <a:srgbClr val="E8915B"/>
                </a:solidFill>
                <a:latin typeface="Arial"/>
              </a:rPr>
              <a:t>SEND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624328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9A9086"/>
                </a:solidFill>
                <a:latin typeface="Arial"/>
              </a:rPr>
              <a:t>SMS  /  Push  /  Email  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28269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spc="200">
                <a:solidFill>
                  <a:srgbClr val="E8915B"/>
                </a:solidFill>
                <a:latin typeface="Arial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3282696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9A9086"/>
                </a:solidFill>
                <a:latin typeface="Arial"/>
              </a:rPr>
              <a:t>User 1, User 2, …   (pick recipients)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94106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spc="200">
                <a:solidFill>
                  <a:srgbClr val="E8915B"/>
                </a:solidFill>
                <a:latin typeface="Arial"/>
              </a:rPr>
              <a:t>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941064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9A9086"/>
                </a:solidFill>
                <a:latin typeface="Arial"/>
              </a:rPr>
              <a:t>Service = Calendar   ·   Condition = item added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59943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spc="200">
                <a:solidFill>
                  <a:srgbClr val="E8915B"/>
                </a:solidFill>
                <a:latin typeface="Arial"/>
              </a:rPr>
              <a:t>DURING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99432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9A9086"/>
                </a:solidFill>
                <a:latin typeface="Arial"/>
              </a:rPr>
              <a:t>Timeframe / quiet hours / days of week  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715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9A9086"/>
                </a:solidFill>
                <a:latin typeface="Arial"/>
              </a:rPr>
              <a:t>Pick the channel. Pick the people. Find the trigger. Set the conditions. </a:t>
            </a:r>
            <a:r>
              <a:rPr sz="1600" b="1">
                <a:solidFill>
                  <a:srgbClr val="F1ECE5"/>
                </a:solidFill>
                <a:latin typeface="Arial"/>
              </a:rPr>
              <a:t>And someone had to build that rule engine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73152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58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THE NEW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1ECE5"/>
                </a:solidFill>
                <a:latin typeface="Arial"/>
              </a:rPr>
              <a:t>She just tells boxBot.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658368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286000"/>
            <a:ext cx="5943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F1ECE5"/>
                </a:solidFill>
                <a:latin typeface="Arial"/>
              </a:rPr>
              <a:t>“Hey BB, text me whenever Jacob adds something to the calendar.”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↓   boxBot edits its calendar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16052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100D0A"/>
          </a:solidFill>
          <a:ln w="12700">
            <a:solidFill>
              <a:srgbClr val="3C3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4160520"/>
            <a:ext cx="10058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spc="100">
                <a:solidFill>
                  <a:srgbClr val="6B6259"/>
                </a:solidFill>
                <a:latin typeface="Arial"/>
              </a:rPr>
              <a:t>calendar/SKILL.md  +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8915B"/>
                </a:solidFill>
                <a:latin typeface="Arial"/>
              </a:rPr>
              <a:t>On calendar add → text Sarah a one-line summary.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1ECE5"/>
                </a:solidFill>
                <a:latin typeface="Arial"/>
              </a:rPr>
              <a:t>One sentence in. One line added. </a:t>
            </a:r>
            <a:r>
              <a:rPr sz="1800" b="0">
                <a:solidFill>
                  <a:srgbClr val="9A9086"/>
                </a:solidFill>
                <a:latin typeface="Arial"/>
              </a:rPr>
              <a:t>Now every calendar add texts her — no settings, no rule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WHAT JUST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25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200">
                <a:solidFill>
                  <a:srgbClr val="9A9086"/>
                </a:solidFill>
                <a:latin typeface="Arial"/>
              </a:rPr>
              <a:t>OLD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325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200">
                <a:solidFill>
                  <a:srgbClr val="E8915B"/>
                </a:solidFill>
                <a:latin typeface="Arial"/>
              </a:rPr>
              <a:t>AGENT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28800"/>
            <a:ext cx="11338560" cy="118872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1ECE5"/>
                </a:solidFill>
                <a:latin typeface="Arial"/>
              </a:rPr>
              <a:t>The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9A9086"/>
                </a:solidFill>
                <a:latin typeface="Arial"/>
              </a:rPr>
              <a:t>A rule-builder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E8915B"/>
                </a:solidFill>
                <a:latin typeface="Arial"/>
              </a:rPr>
              <a:t>One sentence of plain English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246120"/>
            <a:ext cx="11338560" cy="118872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1ECE5"/>
                </a:solidFill>
                <a:latin typeface="Arial"/>
              </a:rPr>
              <a:t>The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4612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9A9086"/>
                </a:solidFill>
                <a:latin typeface="Arial"/>
              </a:rPr>
              <a:t>Channel + recipients + trigger +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4612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E8915B"/>
                </a:solidFill>
                <a:latin typeface="Arial"/>
              </a:rPr>
              <a:t>One line in a text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663440"/>
            <a:ext cx="11338560" cy="118872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66344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1ECE5"/>
                </a:solidFill>
                <a:latin typeface="Arial"/>
              </a:rPr>
              <a:t>Who built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6344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9A9086"/>
                </a:solidFill>
                <a:latin typeface="Arial"/>
              </a:rPr>
              <a:t>Our engineering org, in advance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663440"/>
            <a:ext cx="3840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E8915B"/>
                </a:solidFill>
                <a:latin typeface="Arial"/>
              </a:rPr>
              <a:t>The agent, on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17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1ECE5"/>
                </a:solidFill>
                <a:latin typeface="Arial"/>
              </a:rPr>
              <a:t>Application logic gets compressed. The desired behavior is reached with almost no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MEET BOXBOT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1ECE5"/>
                </a:solidFill>
                <a:latin typeface="Arial"/>
              </a:rPr>
              <a:t>An executive assistant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1ECE5"/>
                </a:solidFill>
                <a:latin typeface="Arial"/>
              </a:rPr>
              <a:t>for the household.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2971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recognizes the family through the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387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Hears &amp; speaks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5387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walk up and talk — mic + speaker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0565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Remembers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10565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people, preferences, and context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67258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Manages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467258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calendar, tasks, and the photo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2395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Reaches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523951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texts over WhatsApp, anywhere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480560" cy="4754880"/>
          </a:xfrm>
          <a:prstGeom prst="roundRect">
            <a:avLst>
              <a:gd name="adj" fmla="val 4000"/>
            </a:avLst>
          </a:prstGeom>
          <a:solidFill>
            <a:srgbClr val="26201B"/>
          </a:solidFill>
          <a:ln w="15875">
            <a:solidFill>
              <a:srgbClr val="D27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4480560" cy="4754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915B"/>
                </a:solidFill>
                <a:latin typeface="Arial"/>
              </a:rPr>
              <a:t>▶  DEMO CLIP  ·  ~45s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086"/>
                </a:solidFill>
                <a:latin typeface="Arial"/>
              </a:rPr>
              <a:t>live: “BB, what's on today?” → voice reply + screen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THE 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0">
                <a:solidFill>
                  <a:srgbClr val="F1ECE5"/>
                </a:solidFill>
                <a:latin typeface="Arial"/>
              </a:rPr>
              <a:t>The agent has a small set of </a:t>
            </a:r>
            <a:r>
              <a:rPr sz="2800" b="1">
                <a:solidFill>
                  <a:srgbClr val="E8915B"/>
                </a:solidFill>
                <a:latin typeface="Arial"/>
              </a:rPr>
              <a:t>hands</a:t>
            </a:r>
            <a:r>
              <a:rPr sz="2800" b="0">
                <a:solidFill>
                  <a:srgbClr val="F1ECE5"/>
                </a:solidFill>
                <a:latin typeface="Arial"/>
              </a:rPr>
              <a:t>, and text files that tell it how to use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97480"/>
            <a:ext cx="3456432" cy="320040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" y="3063240"/>
            <a:ext cx="41148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2461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spc="200">
                <a:solidFill>
                  <a:srgbClr val="E8915B"/>
                </a:solidFill>
                <a:latin typeface="Arial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7033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1ECE5"/>
                </a:solidFill>
                <a:latin typeface="Arial"/>
              </a:rPr>
              <a:t>The hands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297680"/>
            <a:ext cx="28620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Always attached. Core actions the agent can always take — switch the screen, send a message, recall a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697480"/>
            <a:ext cx="3456432" cy="320040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3752" y="3063240"/>
            <a:ext cx="41148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32461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spc="200">
                <a:solidFill>
                  <a:srgbClr val="E8915B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7033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1ECE5"/>
                </a:solidFill>
                <a:latin typeface="Arial"/>
              </a:rPr>
              <a:t>What it picks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4297680"/>
            <a:ext cx="28620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Modular text-file capabilities. Weather, reminders, the calendar. A new feature is a new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2697480"/>
            <a:ext cx="3456432" cy="320040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86216" y="3063240"/>
            <a:ext cx="41148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6" y="32461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spc="200">
                <a:solidFill>
                  <a:srgbClr val="E8915B"/>
                </a:solidFill>
                <a:latin typeface="Arial"/>
              </a:rPr>
              <a:t>DISPLAYS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370332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1ECE5"/>
                </a:solidFill>
                <a:latin typeface="Arial"/>
              </a:rPr>
              <a:t>What it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4297680"/>
            <a:ext cx="28620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The screen is the agent's canvas, not a fixed widget set. It builds the layout the moment calls for.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73152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58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DISPLAYS, NOT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F1ECE5"/>
                </a:solidFill>
                <a:latin typeface="Arial"/>
              </a:rPr>
              <a:t>The agent composes the screen for the moment.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" y="2457057"/>
            <a:ext cx="3538728" cy="2081045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C3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rning_brief_box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6201"/>
            <a:ext cx="3520440" cy="20627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7731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Morning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2457057"/>
            <a:ext cx="3538728" cy="2081045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C3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metrics_box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66201"/>
            <a:ext cx="3520440" cy="20627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6280" y="47731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Home &amp;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02168" y="2457057"/>
            <a:ext cx="3538728" cy="2081045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C3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w_listening_box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466201"/>
            <a:ext cx="3520440" cy="20627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11312" y="47731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9A9086"/>
                </a:solidFill>
                <a:latin typeface="Arial"/>
              </a:rPr>
              <a:t>In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257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9A9086"/>
                </a:solidFill>
                <a:latin typeface="Arial"/>
              </a:rPr>
              <a:t>Same screen, three layouts — chosen by context, not by a settings toggle. </a:t>
            </a:r>
            <a:r>
              <a:rPr sz="1600" b="1">
                <a:solidFill>
                  <a:srgbClr val="E8915B"/>
                </a:solidFill>
                <a:latin typeface="Arial"/>
              </a:rPr>
              <a:t>These are live boxBot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“ADD THAT TO MY DASHBOARD.”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1ECE5"/>
                </a:solidFill>
                <a:latin typeface="Arial"/>
              </a:rPr>
              <a:t>Want something we never shipped?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9A9086"/>
                </a:solidFill>
                <a:latin typeface="Arial"/>
              </a:rPr>
              <a:t>The agent builds the data pipe and plugs it into a widget.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566160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56616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Solar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3566160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356616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Surf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3566160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356616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Sports headlines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553712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55371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Flight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4553712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455371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Pollen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4553712"/>
            <a:ext cx="3291840" cy="713232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 w="12700">
            <a:solidFill>
              <a:srgbClr val="D2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55371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Stock ticker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915B"/>
                </a:solidFill>
                <a:latin typeface="Arial"/>
              </a:rPr>
              <a:t>No backlog ticket. No release. The capability the user asked for simply appears.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AGENT-FIRST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1ECE5"/>
                </a:solidFill>
                <a:latin typeface="Arial"/>
              </a:rPr>
              <a:t>Settings, layouts, and behaviors aren't hard-coded.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9A9086"/>
                </a:solidFill>
                <a:latin typeface="Arial"/>
              </a:rPr>
              <a:t>They're configuration the agent reads and 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65760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65760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9A9086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365760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“Add dark mode” = a multi-quarter project, thousands of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892040"/>
            <a:ext cx="10515600" cy="105156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489204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E8915B"/>
                </a:solidFill>
                <a:latin typeface="Arial"/>
              </a:rPr>
              <a:t>Agent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489204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F1ECE5"/>
                </a:solidFill>
                <a:latin typeface="Arial"/>
              </a:rPr>
              <a:t>User: “I prefer dark mode.”  Agent edits the theme.  “Does this look right?”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457200" cy="381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995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spc="300">
                <a:solidFill>
                  <a:srgbClr val="E8915B"/>
                </a:solidFill>
                <a:latin typeface="Arial"/>
              </a:rPr>
              <a:t>WHY THIS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10515600" cy="132588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039112"/>
            <a:ext cx="50800" cy="82296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98424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1ECE5"/>
                </a:solidFill>
                <a:latin typeface="Arial"/>
              </a:rPr>
              <a:t>Experience gets stickier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4414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Walk up and talk. Once it runs the home, the calendar, and the photos, the customer never leaves — they take it with them when they move.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291840"/>
            <a:ext cx="10515600" cy="132588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3547872"/>
            <a:ext cx="50800" cy="82296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1ECE5"/>
                </a:solidFill>
                <a:latin typeface="Arial"/>
              </a:rPr>
              <a:t>Engineering burden collapses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95020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No menus, rules engines, or onboarding wizards to maintain. A new feature becomes a new text file. The coding footprint scales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800600"/>
            <a:ext cx="10515600" cy="1325880"/>
          </a:xfrm>
          <a:prstGeom prst="roundRect">
            <a:avLst>
              <a:gd name="adj" fmla="val 4500"/>
            </a:avLst>
          </a:prstGeom>
          <a:solidFill>
            <a:srgbClr val="262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5056632"/>
            <a:ext cx="50800" cy="82296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50017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1ECE5"/>
                </a:solidFill>
                <a:latin typeface="Arial"/>
              </a:rPr>
              <a:t>Trust becomes the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45896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9A9086"/>
                </a:solidFill>
                <a:latin typeface="Arial"/>
              </a:rPr>
              <a:t>A device the family texts every day builds a relationship a bolted-on chatbot never will. Familiarity and reliability are the lock-in.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2286000"/>
            <a:ext cx="640080" cy="50800"/>
          </a:xfrm>
          <a:prstGeom prst="rect">
            <a:avLst/>
          </a:prstGeom>
          <a:solidFill>
            <a:srgbClr val="E89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5603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1ECE5"/>
                </a:solidFill>
                <a:latin typeface="Arial"/>
              </a:rPr>
              <a:t>The UI becomes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E8915B"/>
                </a:solidFill>
                <a:latin typeface="Arial"/>
              </a:rPr>
              <a:t>whatever the user wants.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54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>
                <a:solidFill>
                  <a:srgbClr val="9A9086"/>
                </a:solidFill>
                <a:latin typeface="Arial"/>
              </a:rPr>
              <a:t>Stop shipping surfaces. Ship an assistant that builds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spc="200">
                <a:solidFill>
                  <a:srgbClr val="6B6259"/>
                </a:solidFill>
                <a:latin typeface="Arial"/>
              </a:rPr>
              <a:t>boxBot   ·   Smart Home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